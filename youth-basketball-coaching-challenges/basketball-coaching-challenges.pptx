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822960"/>
            <a:ext cx="2560320" cy="2560320"/>
          </a:xfrm>
          <a:prstGeom prst="ellipse">
            <a:avLst/>
          </a:prstGeom>
          <a:solidFill>
            <a:srgbClr val="E8792B">
              <a:alpha val="18000"/>
            </a:srgbClr>
          </a:solidFill>
          <a:ln w="12700">
            <a:solidFill>
              <a:srgbClr val="E8792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365760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Challenges of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 Youth Basketball?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645920" cy="54864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Covarrubias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102: Introduction to Research Methods  ·  Spring 2019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630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the Canyons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792B">
              <a:alpha val="25000"/>
            </a:srgbClr>
          </a:solidFill>
          <a:ln w="12700">
            <a:solidFill>
              <a:srgbClr val="E8792B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Santa Clarita Youth Sports  ·  Mixed-Methods Research  ·  N=50 Coaches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are the challenges in coaching youth basketball?"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31720"/>
            <a:ext cx="2606040" cy="9144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&amp; retainer of volunteer youth coaches for the City of Santa Clarita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331720"/>
            <a:ext cx="2606040" cy="9144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85292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offers 3 pre-season trainings — but are they preparing coaches for real challenges?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331720"/>
            <a:ext cx="2606040" cy="9144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Goal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852928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coaches actually struggle with to improve programs and retention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Mixed-Methods Study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3657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92B"/>
                </a:solidFill>
              </a:rPr>
              <a:t>Survey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 = 50 coaches
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D8F0"/>
                </a:solidFill>
              </a:rPr>
              <a:t>Population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2019 winter season head &amp; assistant coaches, City of Santa Clarita
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D8F0"/>
                </a:solidFill>
              </a:rPr>
              <a:t>Instruments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• Demographic questions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• Outside Influence Susceptibility Scale (6 items, α=.767)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• Challenges Scale (10 items, α=.846)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</a:rPr>
              <a:t>Interviews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N = 5 coaches
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Selection Criteria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Expressed interest in the survey
• Child currently in basketball program
• Age 18+, youth basketball experience
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Format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~1 hour each, neutral location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15 interview questions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Thematic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Surveyed?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" cy="164592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005840"/>
            <a:ext cx="91440" cy="164592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188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38728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 (years)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005840"/>
            <a:ext cx="91440" cy="164592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188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37376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Coaches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44368"/>
            <a:ext cx="91440" cy="164592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27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4008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Own Child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55848" y="2944368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2944368"/>
            <a:ext cx="91440" cy="164592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3127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538728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4496" y="2944368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2944368"/>
            <a:ext cx="91440" cy="164592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12724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437376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Employed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Finding: Top Challenges for Coaches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Commitment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024128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024128"/>
            <a:ext cx="5486400" cy="347472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85632" y="1024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Coach Balance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536192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536192"/>
            <a:ext cx="4773168" cy="347472"/>
          </a:xfrm>
          <a:prstGeom prst="rect">
            <a:avLst/>
          </a:prstGeom>
          <a:solidFill>
            <a:srgbClr val="2D6AAB"/>
          </a:solidFill>
          <a:ln w="12700">
            <a:solidFill>
              <a:srgbClr val="2D6A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5361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048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048256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48256"/>
            <a:ext cx="4443984" cy="347472"/>
          </a:xfrm>
          <a:prstGeom prst="rect">
            <a:avLst/>
          </a:prstGeom>
          <a:solidFill>
            <a:srgbClr val="2D6AAB"/>
          </a:solidFill>
          <a:ln w="12700">
            <a:solidFill>
              <a:srgbClr val="2D6A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3216" y="2048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Life Balance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560320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560320"/>
            <a:ext cx="3840480" cy="347472"/>
          </a:xfrm>
          <a:prstGeom prst="rect">
            <a:avLst/>
          </a:prstGeom>
          <a:solidFill>
            <a:srgbClr val="A0B8D8"/>
          </a:solidFill>
          <a:ln w="12700">
            <a:solidFill>
              <a:srgbClr val="A0B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25603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3072384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072384"/>
            <a:ext cx="3182112" cy="347472"/>
          </a:xfrm>
          <a:prstGeom prst="rect">
            <a:avLst/>
          </a:prstGeom>
          <a:solidFill>
            <a:srgbClr val="A0B8D8"/>
          </a:solidFill>
          <a:ln w="12700">
            <a:solidFill>
              <a:srgbClr val="A0B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30723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Commitment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3584448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584448"/>
            <a:ext cx="2743200" cy="347472"/>
          </a:xfrm>
          <a:prstGeom prst="rect">
            <a:avLst/>
          </a:prstGeom>
          <a:solidFill>
            <a:srgbClr val="A0B8D8"/>
          </a:solidFill>
          <a:ln w="12700">
            <a:solidFill>
              <a:srgbClr val="A0B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35844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0965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4096512"/>
            <a:ext cx="54864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4096512"/>
            <a:ext cx="2084832" cy="347472"/>
          </a:xfrm>
          <a:prstGeom prst="rect">
            <a:avLst/>
          </a:prstGeom>
          <a:solidFill>
            <a:srgbClr val="A0B8D8"/>
          </a:solidFill>
          <a:ln w="12700">
            <a:solidFill>
              <a:srgbClr val="A0B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4096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ranking based on mean Challenges Scale scores (N=50). Top 3 bolded.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Bivariate Highlights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82296" cy="59436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coaches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53.85% scored above mean on Challenge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76272"/>
            <a:ext cx="82296" cy="59436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coaches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 scored above mean (vs. 59.5% of males)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9504"/>
            <a:ext cx="82296" cy="59436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 experience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57.89% scored above mean on Challenge Scale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 — All Rejected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63040"/>
            <a:ext cx="82296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81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Scale ↑ → Outside Influence Scale 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764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p=.660, r=−.06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627632"/>
            <a:ext cx="1783080" cy="274320"/>
          </a:xfrm>
          <a:prstGeom prst="rect">
            <a:avLst/>
          </a:prstGeom>
          <a:solidFill>
            <a:srgbClr val="FFEBE6"/>
          </a:solidFill>
          <a:ln w="12700">
            <a:solidFill>
              <a:srgbClr val="FFCB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627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7627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76272"/>
            <a:ext cx="82296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194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↑ → Challenge Scale 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4780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p=.290, r=.18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340864"/>
            <a:ext cx="1783080" cy="274320"/>
          </a:xfrm>
          <a:prstGeom prst="rect">
            <a:avLst/>
          </a:prstGeom>
          <a:solidFill>
            <a:srgbClr val="FFEBE6"/>
          </a:solidFill>
          <a:ln w="12700">
            <a:solidFill>
              <a:srgbClr val="FFCB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3408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950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89504"/>
            <a:ext cx="82296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9077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↑ → Outside Influence Scale ↑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1912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p=.405, r=.12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054096"/>
            <a:ext cx="1783080" cy="274320"/>
          </a:xfrm>
          <a:prstGeom prst="rect">
            <a:avLst/>
          </a:prstGeom>
          <a:solidFill>
            <a:srgbClr val="FFEBE6"/>
          </a:solidFill>
          <a:ln w="12700">
            <a:solidFill>
              <a:srgbClr val="FFCB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0540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hypotheses rejected — the relationships are more complex and warrant further study.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Themes from 5 Interviews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207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Experiences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shaped by both negative and positive coaches from their own youth. Many coach to "pay it forward" and teach life skills through basketball.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2412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88720"/>
            <a:ext cx="457200" cy="45720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13832" y="1207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Adapting to New Players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season brings unfamiliar players with different backgrounds, attention spans, and responses to coaching authority.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1272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parents are engaged there are no issues, but there is a fine line between engaged and overbearing." — Respondent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4436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3832" y="31272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of Travel Ball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travel teams introduce a "win at all costs" culture and enable "Daddy Ball" — where under-talented children of coaches receive unfair favoritism.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926080" cy="2926080"/>
          </a:xfrm>
          <a:prstGeom prst="ellipse">
            <a:avLst/>
          </a:prstGeom>
          <a:solidFill>
            <a:srgbClr val="E8792B">
              <a:alpha val="15000"/>
            </a:srgbClr>
          </a:solidFill>
          <a:ln w="12700">
            <a:solidFill>
              <a:srgbClr val="E8792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challenges in coaching youth basketball?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EEF2FA"/>
          </a:solidFill>
          <a:ln w="12700">
            <a:solidFill>
              <a:srgbClr val="C8D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82296" cy="91440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35608"/>
            <a:ext cx="502920" cy="50292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307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Commitment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67335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minimal city league requirements feel burdensome. Reducing further would jeopardize program quality.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8229600" cy="914400"/>
          </a:xfrm>
          <a:prstGeom prst="rect">
            <a:avLst/>
          </a:prstGeom>
          <a:solidFill>
            <a:srgbClr val="EEF2FA"/>
          </a:solidFill>
          <a:ln w="12700">
            <a:solidFill>
              <a:srgbClr val="C8D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13432"/>
            <a:ext cx="82296" cy="91440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3865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/ Life Balance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75234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coaches are full-time employed. Evening practices help, but work schedules remain a barrier.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8229600" cy="914400"/>
          </a:xfrm>
          <a:prstGeom prst="rect">
            <a:avLst/>
          </a:prstGeom>
          <a:solidFill>
            <a:srgbClr val="EEF2FA"/>
          </a:solidFill>
          <a:ln w="12700">
            <a:solidFill>
              <a:srgbClr val="C8D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92424"/>
            <a:ext cx="82296" cy="91440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593592"/>
            <a:ext cx="502920" cy="502920"/>
          </a:xfrm>
          <a:prstGeom prst="ellipse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4655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Parents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38313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are underprepared for parent interactions. Better admin support and parent-focused training can solve this.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792B">
              <a:alpha val="40000"/>
            </a:srgbClr>
          </a:solidFill>
          <a:ln w="12700">
            <a:solidFill>
              <a:srgbClr val="E8792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Research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82296" cy="86868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recreational league in Santa Clarita — results may not generalize nationally.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82296" cy="86868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57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Sport-Specific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468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focused only on basketball. Other youth sports may face different challenges.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82112"/>
            <a:ext cx="82296" cy="868680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236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Ball Gap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5478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in competitive travel programs were excluded — a major gap given travel ball's challenges.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2412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24128"/>
            <a:ext cx="8229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1389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was designed early in a first research methods course — questions could be refined.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03120"/>
            <a:ext cx="82296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579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468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hypotheses were rejected. More research is needed to understand the relationships at play.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Expand to travel ball coaches, other sports, and larger geographic samples.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Basketball Coaching Challenges  ·  Isaac Covarrubias  ·  2019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E8792B">
              <a:alpha val="12000"/>
            </a:srgbClr>
          </a:solidFill>
          <a:ln w="12700">
            <a:solidFill>
              <a:srgbClr val="E8792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011680" cy="64008"/>
          </a:xfrm>
          <a:prstGeom prst="rect">
            <a:avLst/>
          </a:prstGeom>
          <a:solidFill>
            <a:srgbClr val="E8792B"/>
          </a:solidFill>
          <a:ln w="12700">
            <a:solidFill>
              <a:srgbClr val="E87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5564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Isaac Covarrubias
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B0C4E0"/>
                </a:solidFill>
              </a:rPr>
              <a:t>Sociology 102  ·  College of the Canyons  ·  Spring 2019
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7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DCEF"/>
                </a:solidFill>
              </a:rPr>
              <a:t>Time commitment is the #1 challenge — even at the recreational level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DCEF"/>
                </a:solidFill>
              </a:rPr>
              <a:t>Hypothesis testing rejected all 3 correlations — complexity warrants further study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DCEF"/>
                </a:solidFill>
              </a:rPr>
              <a:t>Parent training and admin support are actionable improvements for the City of Santa Clarita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792B">
              <a:alpha val="40000"/>
            </a:srgbClr>
          </a:solidFill>
          <a:ln w="12700">
            <a:solidFill>
              <a:srgbClr val="E8792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Coaching Youth Basketball  ·  Mixed-Methods Research  ·  N=50 Coaches + 5 Interviews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the Challenges of Coaching Youth Basketball?</dc:title>
  <dc:subject>PptxGenJS Presentation</dc:subject>
  <dc:creator>Isaac Covarrubias</dc:creator>
  <cp:lastModifiedBy>Isaac Covarrubias</cp:lastModifiedBy>
  <cp:revision>1</cp:revision>
  <dcterms:created xsi:type="dcterms:W3CDTF">2026-03-27T02:34:58Z</dcterms:created>
  <dcterms:modified xsi:type="dcterms:W3CDTF">2026-03-27T02:34:58Z</dcterms:modified>
</cp:coreProperties>
</file>